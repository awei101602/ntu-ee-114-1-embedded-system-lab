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Nunito"/>
      <p:regular r:id="rId17"/>
      <p:bold r:id="rId18"/>
      <p:italic r:id="rId19"/>
      <p:boldItalic r:id="rId20"/>
    </p:embeddedFont>
    <p:embeddedFont>
      <p:font typeface="Roboto Mon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Italic.fntdata"/><Relationship Id="rId11" Type="http://schemas.openxmlformats.org/officeDocument/2006/relationships/slide" Target="slides/slide6.xml"/><Relationship Id="rId22" Type="http://schemas.openxmlformats.org/officeDocument/2006/relationships/font" Target="fonts/RobotoMono-bold.fntdata"/><Relationship Id="rId10" Type="http://schemas.openxmlformats.org/officeDocument/2006/relationships/slide" Target="slides/slide5.xml"/><Relationship Id="rId21" Type="http://schemas.openxmlformats.org/officeDocument/2006/relationships/font" Target="fonts/RobotoMono-regular.fntdata"/><Relationship Id="rId13" Type="http://schemas.openxmlformats.org/officeDocument/2006/relationships/slide" Target="slides/slide8.xml"/><Relationship Id="rId24" Type="http://schemas.openxmlformats.org/officeDocument/2006/relationships/font" Target="fonts/RobotoMono-boldItalic.fntdata"/><Relationship Id="rId12" Type="http://schemas.openxmlformats.org/officeDocument/2006/relationships/slide" Target="slides/slide7.xml"/><Relationship Id="rId23" Type="http://schemas.openxmlformats.org/officeDocument/2006/relationships/font" Target="fonts/RobotoMon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italic.fntdata"/><Relationship Id="rId6" Type="http://schemas.openxmlformats.org/officeDocument/2006/relationships/slide" Target="slides/slide1.xml"/><Relationship Id="rId18" Type="http://schemas.openxmlformats.org/officeDocument/2006/relationships/font" Target="fonts/Nuni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6702a33f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86702a33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6702a33f4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86702a33f4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6702a33f4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86702a33f4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86702a33f4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86702a33f4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86702a33f4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86702a33f4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86702a33f4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86702a33f4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86702a33f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86702a33f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86702a33f4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86702a33f4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86702a33f4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86702a33f4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86702a33f4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86702a33f4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youtu.be/wun6VTo-JpY" TargetMode="External"/><Relationship Id="rId4" Type="http://schemas.openxmlformats.org/officeDocument/2006/relationships/hyperlink" Target="http://www.youtube.com/watch?v=wun6VTo-JpY" TargetMode="External"/><Relationship Id="rId5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blog.csdn.net/weixin_35815766/article/details/152659222" TargetMode="External"/><Relationship Id="rId4" Type="http://schemas.openxmlformats.org/officeDocument/2006/relationships/hyperlink" Target="https://docs.cirkitdesigner.com/component/44530394-fe5b-47d0-b423-bb55a0499d69/sg5010-servo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8947"/>
              <a:buFont typeface="Arial"/>
              <a:buNone/>
            </a:pPr>
            <a:r>
              <a:rPr b="1" lang="zh-TW" sz="3800">
                <a:solidFill>
                  <a:srgbClr val="AF7B51"/>
                </a:solidFill>
              </a:rPr>
              <a:t>嵌入式系統實驗 </a:t>
            </a:r>
            <a:endParaRPr b="1" sz="3800">
              <a:solidFill>
                <a:srgbClr val="AF7B5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8947"/>
              <a:buFont typeface="Arial"/>
              <a:buNone/>
            </a:pPr>
            <a:r>
              <a:rPr b="1" lang="zh-TW" sz="3800">
                <a:solidFill>
                  <a:srgbClr val="AF7B51"/>
                </a:solidFill>
              </a:rPr>
              <a:t>Final Proeject-</a:t>
            </a:r>
            <a:endParaRPr b="1" sz="3800">
              <a:solidFill>
                <a:srgbClr val="AF7B5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8947"/>
              <a:buFont typeface="Arial"/>
              <a:buNone/>
            </a:pPr>
            <a:r>
              <a:rPr b="1" lang="zh-TW" sz="3800">
                <a:solidFill>
                  <a:srgbClr val="AF7B51"/>
                </a:solidFill>
              </a:rPr>
              <a:t>防盜系統</a:t>
            </a:r>
            <a:endParaRPr b="1"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48"/>
            <a:ext cx="5361300" cy="8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600">
                <a:solidFill>
                  <a:srgbClr val="AF7B51"/>
                </a:solidFill>
              </a:rPr>
              <a:t>電機四 陳玟瑋 B10901044 </a:t>
            </a:r>
            <a:endParaRPr b="1" sz="1600">
              <a:solidFill>
                <a:srgbClr val="AF7B5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600">
                <a:solidFill>
                  <a:srgbClr val="AF7B51"/>
                </a:solidFill>
              </a:rPr>
              <a:t>電機四 高鉅茗 B10901159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/>
              <a:t>系統硬體架構</a:t>
            </a:r>
            <a:endParaRPr b="1"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14" title="ChatGPT Image 2025年12月18日 上午11_53_44.png"/>
          <p:cNvPicPr preferRelativeResize="0"/>
          <p:nvPr/>
        </p:nvPicPr>
        <p:blipFill rotWithShape="1">
          <a:blip r:embed="rId3">
            <a:alphaModFix/>
          </a:blip>
          <a:srcRect b="16389" l="0" r="4205" t="15997"/>
          <a:stretch/>
        </p:blipFill>
        <p:spPr>
          <a:xfrm>
            <a:off x="3112050" y="1990725"/>
            <a:ext cx="5212796" cy="24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RTOS Task Priority</a:t>
            </a:r>
            <a:endParaRPr/>
          </a:p>
        </p:txBody>
      </p:sp>
      <p:sp>
        <p:nvSpPr>
          <p:cNvPr id="142" name="Google Shape;142;p15"/>
          <p:cNvSpPr txBox="1"/>
          <p:nvPr>
            <p:ph idx="1" type="body"/>
          </p:nvPr>
        </p:nvSpPr>
        <p:spPr>
          <a:xfrm>
            <a:off x="819150" y="195117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BLE Task : 	High</a:t>
            </a:r>
            <a:endParaRPr b="1"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 sz="1800"/>
              <a:t>SensorTask: 	Normal3</a:t>
            </a:r>
            <a:endParaRPr b="1"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 sz="1800"/>
              <a:t>MotorTask:	Normal1</a:t>
            </a:r>
            <a:endParaRPr b="1"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 sz="1800"/>
              <a:t>LogicTask: 	Normal</a:t>
            </a:r>
            <a:endParaRPr b="1"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43" name="Google Shape;143;p15" title="Gemini_Generated_Image_wu6121wu6121wu6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7775" y="1979075"/>
            <a:ext cx="5696773" cy="239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/>
              <a:t>BLE Task</a:t>
            </a:r>
            <a:endParaRPr b="1"/>
          </a:p>
        </p:txBody>
      </p:sp>
      <p:sp>
        <p:nvSpPr>
          <p:cNvPr id="149" name="Google Shape;149;p16"/>
          <p:cNvSpPr txBox="1"/>
          <p:nvPr>
            <p:ph idx="1" type="body"/>
          </p:nvPr>
        </p:nvSpPr>
        <p:spPr>
          <a:xfrm>
            <a:off x="819150" y="1587900"/>
            <a:ext cx="7505700" cy="28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rgbClr val="000000"/>
                </a:solidFill>
              </a:rPr>
              <a:t>本系統架設一個網頁介面，讓電腦或行動裝置可透過 </a:t>
            </a:r>
            <a:r>
              <a:rPr b="1" lang="zh-TW" sz="1600">
                <a:solidFill>
                  <a:srgbClr val="000000"/>
                </a:solidFill>
              </a:rPr>
              <a:t>Bluetooth Low Energy（BLE）</a:t>
            </a:r>
            <a:r>
              <a:rPr lang="zh-TW" sz="1600">
                <a:solidFill>
                  <a:srgbClr val="000000"/>
                </a:solidFill>
              </a:rPr>
              <a:t> 與 </a:t>
            </a:r>
            <a:r>
              <a:rPr b="1" lang="zh-TW" sz="1600">
                <a:solidFill>
                  <a:srgbClr val="000000"/>
                </a:solidFill>
              </a:rPr>
              <a:t>STM32L475</a:t>
            </a:r>
            <a:r>
              <a:rPr lang="zh-TW" sz="1600">
                <a:solidFill>
                  <a:srgbClr val="000000"/>
                </a:solidFill>
              </a:rPr>
              <a:t> 進行連線。</a:t>
            </a:r>
            <a:br>
              <a:rPr lang="zh-TW" sz="1600">
                <a:solidFill>
                  <a:srgbClr val="000000"/>
                </a:solidFill>
              </a:rPr>
            </a:b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rgbClr val="000000"/>
                </a:solidFill>
              </a:rPr>
              <a:t>開啟網頁的裝置作為 </a:t>
            </a:r>
            <a:r>
              <a:rPr b="1" lang="zh-TW" sz="1600">
                <a:solidFill>
                  <a:srgbClr val="000000"/>
                </a:solidFill>
              </a:rPr>
              <a:t>Server</a:t>
            </a:r>
            <a:r>
              <a:rPr lang="zh-TW" sz="1600">
                <a:solidFill>
                  <a:srgbClr val="000000"/>
                </a:solidFill>
              </a:rPr>
              <a:t>，可透過 </a:t>
            </a:r>
            <a:r>
              <a:rPr b="1" lang="zh-TW" sz="1600">
                <a:solidFill>
                  <a:srgbClr val="000000"/>
                </a:solidFill>
              </a:rPr>
              <a:t>Write 指令</a:t>
            </a:r>
            <a:r>
              <a:rPr lang="zh-TW" sz="1600">
                <a:solidFill>
                  <a:srgbClr val="000000"/>
                </a:solidFill>
              </a:rPr>
              <a:t> 控制 STM32（Client）進入 </a:t>
            </a:r>
            <a:r>
              <a:rPr b="1" lang="zh-TW" sz="1600">
                <a:solidFill>
                  <a:srgbClr val="000000"/>
                </a:solidFill>
              </a:rPr>
              <a:t>Active</a:t>
            </a:r>
            <a:r>
              <a:rPr lang="zh-TW" sz="1600">
                <a:solidFill>
                  <a:srgbClr val="000000"/>
                </a:solidFill>
              </a:rPr>
              <a:t> 或 </a:t>
            </a:r>
            <a:r>
              <a:rPr b="1" lang="zh-TW" sz="1600">
                <a:solidFill>
                  <a:srgbClr val="000000"/>
                </a:solidFill>
              </a:rPr>
              <a:t>Inactive</a:t>
            </a:r>
            <a:r>
              <a:rPr lang="zh-TW" sz="1600">
                <a:solidFill>
                  <a:srgbClr val="000000"/>
                </a:solidFill>
              </a:rPr>
              <a:t> 狀態。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rgbClr val="000000"/>
                </a:solidFill>
              </a:rPr>
              <a:t>當 </a:t>
            </a:r>
            <a:r>
              <a:rPr b="1" lang="zh-TW" sz="1600">
                <a:solidFill>
                  <a:srgbClr val="000000"/>
                </a:solidFill>
              </a:rPr>
              <a:t>LogicTask</a:t>
            </a:r>
            <a:r>
              <a:rPr lang="zh-TW" sz="1600">
                <a:solidFill>
                  <a:srgbClr val="000000"/>
                </a:solidFill>
              </a:rPr>
              <a:t> 判斷附近出現入侵者時，會即時更新系統狀態數值。</a:t>
            </a:r>
            <a:br>
              <a:rPr lang="zh-TW" sz="1600">
                <a:solidFill>
                  <a:srgbClr val="000000"/>
                </a:solidFill>
              </a:rPr>
            </a:br>
            <a:r>
              <a:rPr lang="zh-TW" sz="1600">
                <a:solidFill>
                  <a:srgbClr val="000000"/>
                </a:solidFill>
              </a:rPr>
              <a:t> 在下一次 BLE Read 時，Server 端即可讀取最新狀態；同時，當系統持續維持在 </a:t>
            </a:r>
            <a:r>
              <a:rPr b="1" lang="zh-TW" sz="1600">
                <a:solidFill>
                  <a:srgbClr val="000000"/>
                </a:solidFill>
              </a:rPr>
              <a:t>入侵的</a:t>
            </a:r>
            <a:r>
              <a:rPr lang="zh-TW" sz="1600">
                <a:solidFill>
                  <a:srgbClr val="000000"/>
                </a:solidFill>
              </a:rPr>
              <a:t> 狀態下，STM32 會主動透過 </a:t>
            </a:r>
            <a:r>
              <a:rPr b="1" lang="zh-TW" sz="1600">
                <a:solidFill>
                  <a:srgbClr val="000000"/>
                </a:solidFill>
              </a:rPr>
              <a:t>Notify</a:t>
            </a:r>
            <a:r>
              <a:rPr lang="zh-TW" sz="1600">
                <a:solidFill>
                  <a:srgbClr val="000000"/>
                </a:solidFill>
              </a:rPr>
              <a:t> 機制回傳警告訊息至 Server 端，以達到即時警示的效果。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/>
              <a:t>BLE Task - </a:t>
            </a:r>
            <a:r>
              <a:rPr b="1" lang="zh-TW"/>
              <a:t>連線網頁</a:t>
            </a:r>
            <a:endParaRPr b="1"/>
          </a:p>
        </p:txBody>
      </p:sp>
      <p:sp>
        <p:nvSpPr>
          <p:cNvPr id="155" name="Google Shape;155;p17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3">
            <a:alphaModFix/>
          </a:blip>
          <a:srcRect b="14266" l="0" r="0" t="0"/>
          <a:stretch/>
        </p:blipFill>
        <p:spPr>
          <a:xfrm>
            <a:off x="1265150" y="1800200"/>
            <a:ext cx="2107575" cy="305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/>
          <p:cNvPicPr preferRelativeResize="0"/>
          <p:nvPr/>
        </p:nvPicPr>
        <p:blipFill rotWithShape="1">
          <a:blip r:embed="rId4">
            <a:alphaModFix/>
          </a:blip>
          <a:srcRect b="10650" l="0" r="0" t="0"/>
          <a:stretch/>
        </p:blipFill>
        <p:spPr>
          <a:xfrm>
            <a:off x="3372736" y="1800200"/>
            <a:ext cx="2195550" cy="3060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/>
          <p:cNvPicPr preferRelativeResize="0"/>
          <p:nvPr/>
        </p:nvPicPr>
        <p:blipFill rotWithShape="1">
          <a:blip r:embed="rId5">
            <a:alphaModFix/>
          </a:blip>
          <a:srcRect b="9836" l="0" r="0" t="0"/>
          <a:stretch/>
        </p:blipFill>
        <p:spPr>
          <a:xfrm>
            <a:off x="5568267" y="1800200"/>
            <a:ext cx="2099925" cy="3060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/>
              <a:t>Sensor Task</a:t>
            </a:r>
            <a:endParaRPr b="1"/>
          </a:p>
        </p:txBody>
      </p:sp>
      <p:sp>
        <p:nvSpPr>
          <p:cNvPr id="164" name="Google Shape;164;p18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由於 </a:t>
            </a:r>
            <a:r>
              <a:rPr b="1" lang="zh-TW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RTOS 的 </a:t>
            </a:r>
            <a:r>
              <a:rPr b="1" lang="zh-TW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osDelay()</a:t>
            </a:r>
            <a:r>
              <a:rPr b="1" lang="zh-TW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最小延遲單位為 1 ms</a:t>
            </a:r>
            <a:r>
              <a:rPr lang="zh-TW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，無法滿足超音波模組所需的微秒等級時序，因此本系統改以 </a:t>
            </a:r>
            <a:r>
              <a:rPr b="1" lang="zh-TW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System Clock</a:t>
            </a:r>
            <a:r>
              <a:rPr lang="zh-TW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實作 </a:t>
            </a:r>
            <a:r>
              <a:rPr b="1" lang="zh-TW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µs 精度的延遲</a:t>
            </a:r>
            <a:r>
              <a:rPr lang="zh-TW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，以正確產生控制訊號。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SensorTask</a:t>
            </a:r>
            <a:r>
              <a:rPr lang="zh-TW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會對 </a:t>
            </a:r>
            <a:r>
              <a:rPr b="1" lang="zh-TW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HC-SR04 超音波模組</a:t>
            </a:r>
            <a:r>
              <a:rPr lang="zh-TW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輸出 </a:t>
            </a:r>
            <a:r>
              <a:rPr b="1" lang="zh-TW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 µs 的 Trig 高電位訊號</a:t>
            </a:r>
            <a:r>
              <a:rPr lang="zh-TW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，啟動量測流程，並取得回傳的距離資訊以判斷前方是否有物體存在。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距離資料提供給 </a:t>
            </a:r>
            <a:r>
              <a:rPr b="1" lang="zh-TW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LogicTask</a:t>
            </a:r>
            <a:r>
              <a:rPr lang="zh-TW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進行判斷；當任一方向量測距離 </a:t>
            </a:r>
            <a:r>
              <a:rPr b="1" lang="zh-TW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小於 50 cm</a:t>
            </a:r>
            <a:r>
              <a:rPr lang="zh-TW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時，系統狀態即判定為 </a:t>
            </a:r>
            <a:r>
              <a:rPr b="1" lang="zh-TW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入侵（Intrusion）</a:t>
            </a:r>
            <a:r>
              <a:rPr lang="zh-TW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br>
              <a:rPr lang="zh-TW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zh-TW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/>
              <a:t>Sensor Task + Motor Task</a:t>
            </a:r>
            <a:endParaRPr b="1"/>
          </a:p>
        </p:txBody>
      </p:sp>
      <p:sp>
        <p:nvSpPr>
          <p:cNvPr id="170" name="Google Shape;170;p19"/>
          <p:cNvSpPr txBox="1"/>
          <p:nvPr>
            <p:ph idx="1" type="body"/>
          </p:nvPr>
        </p:nvSpPr>
        <p:spPr>
          <a:xfrm>
            <a:off x="819150" y="1990725"/>
            <a:ext cx="7505700" cy="28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在入侵狀態下，SensorTask 會進一步分析入侵者所在位置（左 / 中 / 右），並決定伺服馬達的目標角度，使馬達轉向 </a:t>
            </a:r>
            <a:r>
              <a:rPr b="1" lang="zh-TW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45°、90° 或 135°</a:t>
            </a:r>
            <a:r>
              <a:rPr lang="zh-TW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，分別對應 </a:t>
            </a:r>
            <a:r>
              <a:rPr b="1" lang="zh-TW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向右轉、維持中間、向左轉</a:t>
            </a:r>
            <a:r>
              <a:rPr lang="zh-TW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，以達到追蹤入侵者方向的效果。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本系統使用 </a:t>
            </a:r>
            <a:r>
              <a:rPr b="1" lang="zh-TW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Timer 5</a:t>
            </a:r>
            <a:r>
              <a:rPr lang="zh-TW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產生 </a:t>
            </a:r>
            <a:r>
              <a:rPr b="1" lang="zh-TW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50 Hz 的 PWM 訊號</a:t>
            </a:r>
            <a:r>
              <a:rPr lang="zh-TW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來驅動 </a:t>
            </a:r>
            <a:r>
              <a:rPr b="1" lang="zh-TW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SG-5010 伺服馬達</a:t>
            </a:r>
            <a:r>
              <a:rPr lang="zh-TW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br>
              <a:rPr lang="zh-TW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zh-TW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PWM 週期設定為 </a:t>
            </a:r>
            <a:r>
              <a:rPr b="1" lang="zh-TW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 ms</a:t>
            </a:r>
            <a:r>
              <a:rPr lang="zh-TW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，並透過調整高電位脈波寬度來控制馬達轉動角度。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其中，當 PWM 的高電位時間為 </a:t>
            </a:r>
            <a:r>
              <a:rPr b="1" lang="zh-TW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500 µs</a:t>
            </a:r>
            <a:r>
              <a:rPr lang="zh-TW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時，伺服馬達對應至 </a:t>
            </a:r>
            <a:r>
              <a:rPr b="1" lang="zh-TW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度位置</a:t>
            </a:r>
            <a:r>
              <a:rPr lang="zh-TW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；</a:t>
            </a:r>
            <a:br>
              <a:rPr lang="zh-TW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zh-TW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當高電位時間為 </a:t>
            </a:r>
            <a:r>
              <a:rPr b="1" lang="zh-TW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2500 µs</a:t>
            </a:r>
            <a:r>
              <a:rPr lang="zh-TW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時，則對應至 </a:t>
            </a:r>
            <a:r>
              <a:rPr b="1" lang="zh-TW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180 度位置</a:t>
            </a:r>
            <a:r>
              <a:rPr lang="zh-TW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/>
              <a:t>Logic Task</a:t>
            </a:r>
            <a:endParaRPr b="1"/>
          </a:p>
        </p:txBody>
      </p:sp>
      <p:sp>
        <p:nvSpPr>
          <p:cNvPr id="176" name="Google Shape;176;p20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待Sensor Task 釋放 semaphore後執行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/>
              <a:t>判斷Active/Inative，讀取 Sensor 的資料，判斷是否入侵(&lt;50cm)和位置(最小距離)，若有人則開啟蜂鳴器、LED，同時改變BLE的Characteristic並透過MotorQueue記錄要轉動的方向。當有人時會一直Notify，人離開時再改變Characterisc為0，且只Notify一次。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Demo</a:t>
            </a:r>
            <a:endParaRPr/>
          </a:p>
        </p:txBody>
      </p:sp>
      <p:sp>
        <p:nvSpPr>
          <p:cNvPr id="182" name="Google Shape;182;p21"/>
          <p:cNvSpPr txBox="1"/>
          <p:nvPr>
            <p:ph idx="1" type="body"/>
          </p:nvPr>
        </p:nvSpPr>
        <p:spPr>
          <a:xfrm>
            <a:off x="819150" y="1337300"/>
            <a:ext cx="7505700" cy="31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 u="sng">
                <a:solidFill>
                  <a:schemeClr val="hlink"/>
                </a:solidFill>
                <a:hlinkClick r:id="rId3"/>
              </a:rPr>
              <a:t>NTU EE 114-1 ES-Lab Final Project 防盜系統 陳玟瑋 高鉅茗</a:t>
            </a:r>
            <a:endParaRPr/>
          </a:p>
        </p:txBody>
      </p:sp>
      <p:pic>
        <p:nvPicPr>
          <p:cNvPr id="183" name="Google Shape;183;p21" title="NTU EE 114-1 ES-Lab Final Project 防盜系統 陳玟瑋 高鉅茗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7850" y="1800200"/>
            <a:ext cx="4352000" cy="24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/>
              <a:t>遇到的問題</a:t>
            </a:r>
            <a:endParaRPr b="1"/>
          </a:p>
        </p:txBody>
      </p:sp>
      <p:sp>
        <p:nvSpPr>
          <p:cNvPr id="189" name="Google Shape;189;p22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600"/>
              <a:t>我們本來是希望能用藍芽active 裝置，當偵測到入侵者時，用Wi-Fi傳送通知給使用者。但我們後來注意到，藍芽和Wi-Fi都要使用SPI3做溝通。藍芽的data是 8bit，Wi-Fi是16bit。若要一起共用會反覆切換，容易失敗，所以我們最後放棄了。</a:t>
            </a:r>
            <a:endParaRPr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/>
              <a:t>參考資料</a:t>
            </a:r>
            <a:endParaRPr b="1"/>
          </a:p>
        </p:txBody>
      </p:sp>
      <p:sp>
        <p:nvSpPr>
          <p:cNvPr id="195" name="Google Shape;195;p23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HC-SR04超音播測距模組 : </a:t>
            </a:r>
            <a:r>
              <a:rPr lang="zh-TW" sz="16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https://blog.csdn.net/weixin_35815766/article/details/152659222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600"/>
              <a:t>SG-5010伺服馬達: </a:t>
            </a:r>
            <a:r>
              <a:rPr lang="zh-TW" sz="16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https://docs.cirkitdesigner.com/component/44530394-fe5b-47d0-b423-bb55a0499d69/sg5010-servo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